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668" r:id="rId6"/>
    <p:sldId id="720" r:id="rId7"/>
    <p:sldId id="721" r:id="rId8"/>
    <p:sldId id="722" r:id="rId9"/>
    <p:sldId id="723" r:id="rId10"/>
    <p:sldId id="724" r:id="rId11"/>
    <p:sldId id="725" r:id="rId12"/>
    <p:sldId id="726" r:id="rId13"/>
    <p:sldId id="727" r:id="rId14"/>
    <p:sldId id="728" r:id="rId15"/>
    <p:sldId id="729" r:id="rId16"/>
    <p:sldId id="730" r:id="rId17"/>
    <p:sldId id="731" r:id="rId18"/>
    <p:sldId id="732" r:id="rId19"/>
    <p:sldId id="733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42" userDrawn="1">
          <p15:clr>
            <a:srgbClr val="A4A3A4"/>
          </p15:clr>
        </p15:guide>
        <p15:guide id="2" pos="2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2E1B"/>
    <a:srgbClr val="4472C4"/>
    <a:srgbClr val="F37581"/>
    <a:srgbClr val="F1A069"/>
    <a:srgbClr val="F39675"/>
    <a:srgbClr val="ED8C7F"/>
    <a:srgbClr val="FFFFFF"/>
    <a:srgbClr val="EF8D4B"/>
    <a:srgbClr val="CC5E12"/>
    <a:srgbClr val="ED7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5" y="29"/>
      </p:cViewPr>
      <p:guideLst>
        <p:guide orient="horz" pos="4042"/>
        <p:guide pos="24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F6308272-5835-4EF2-8338-4CF3D53B7B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5D70D03-0EAB-43BF-BC9B-B89C41E392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8C0DD-40C9-477F-B05E-5EB02AF57936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71C9173-1813-4DF2-954A-714D86A4F1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7023069-8468-492F-A353-6A444E3786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818A0-23B7-4482-A80D-B506842765D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4381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0B5EC-8458-4BBA-B9B8-D0FBEA2CFC1E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2DD78-F36F-4CED-8AB8-7EDB06BE60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1234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magine 21" descr="Immagine che contiene testo, interni, portatile, computer&#10;&#10;Descrizione generata automaticamente">
            <a:extLst>
              <a:ext uri="{FF2B5EF4-FFF2-40B4-BE49-F238E27FC236}">
                <a16:creationId xmlns:a16="http://schemas.microsoft.com/office/drawing/2014/main" id="{811C9178-AB35-4127-AB40-5B41E2297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" t="470" r="618" b="15437"/>
          <a:stretch/>
        </p:blipFill>
        <p:spPr>
          <a:xfrm flipH="1">
            <a:off x="0" y="-63501"/>
            <a:ext cx="12192000" cy="6921501"/>
          </a:xfrm>
          <a:prstGeom prst="rect">
            <a:avLst/>
          </a:prstGeom>
        </p:spPr>
      </p:pic>
      <p:sp>
        <p:nvSpPr>
          <p:cNvPr id="10" name="Rettangolo 9">
            <a:extLst>
              <a:ext uri="{FF2B5EF4-FFF2-40B4-BE49-F238E27FC236}">
                <a16:creationId xmlns:a16="http://schemas.microsoft.com/office/drawing/2014/main" id="{E0F26CE6-0B76-43F1-8864-F3D8782CCE53}"/>
              </a:ext>
            </a:extLst>
          </p:cNvPr>
          <p:cNvSpPr/>
          <p:nvPr userDrawn="1"/>
        </p:nvSpPr>
        <p:spPr>
          <a:xfrm>
            <a:off x="1161291" y="5899407"/>
            <a:ext cx="8194106" cy="46166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it-IT" sz="1200" dirty="0">
                <a:solidFill>
                  <a:schemeClr val="tx1"/>
                </a:solidFill>
                <a:latin typeface="+mj-lt"/>
              </a:rPr>
              <a:t>Le informazioni contenute in questo documento sono di proprietà di OverNet e delle altre società ove indicato. </a:t>
            </a:r>
          </a:p>
          <a:p>
            <a:pPr algn="just"/>
            <a:r>
              <a:rPr lang="it-IT" sz="1200" dirty="0">
                <a:solidFill>
                  <a:schemeClr val="tx1"/>
                </a:solidFill>
                <a:latin typeface="+mj-lt"/>
              </a:rPr>
              <a:t>Questo documento non deve essere riprodotto, pubblicato o distribuito né reso disponibile a terzi o alterato in ogni modo.</a:t>
            </a: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377D618E-3F74-4DC4-8E29-EEBC7B601E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362088"/>
            <a:ext cx="10515600" cy="157404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 b="1">
                <a:latin typeface="+mn-lt"/>
              </a:defRPr>
            </a:lvl1pPr>
          </a:lstStyle>
          <a:p>
            <a:r>
              <a:rPr lang="it-IT" dirty="0"/>
              <a:t>FARE CLIC PER MODIFICARE IL TITOLO DELLO SCHEMA</a:t>
            </a:r>
          </a:p>
        </p:txBody>
      </p:sp>
      <p:sp>
        <p:nvSpPr>
          <p:cNvPr id="20" name="Sottotitolo 2">
            <a:extLst>
              <a:ext uri="{FF2B5EF4-FFF2-40B4-BE49-F238E27FC236}">
                <a16:creationId xmlns:a16="http://schemas.microsoft.com/office/drawing/2014/main" id="{9E8547BD-37CB-4013-84BF-097E68859B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4054332"/>
            <a:ext cx="9144000" cy="4735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1">
                <a:solidFill>
                  <a:srgbClr val="666666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IL SOTTOTITOLO DELLO SCHEMA</a:t>
            </a:r>
          </a:p>
        </p:txBody>
      </p:sp>
      <p:pic>
        <p:nvPicPr>
          <p:cNvPr id="21" name="Elemento grafico 20">
            <a:extLst>
              <a:ext uri="{FF2B5EF4-FFF2-40B4-BE49-F238E27FC236}">
                <a16:creationId xmlns:a16="http://schemas.microsoft.com/office/drawing/2014/main" id="{3F1577FC-5B1D-44E3-BEAD-7F6797CA8F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1736533"/>
            <a:ext cx="3086100" cy="44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964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 userDrawn="1">
          <p15:clr>
            <a:srgbClr val="FBAE40"/>
          </p15:clr>
        </p15:guide>
        <p15:guide id="2" pos="12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8ADDC4-133D-43F8-B997-F71DC8DA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BB5A4B-2F21-45EB-B979-69D9E6A08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F6FE9C0-7CF7-478F-8B98-9F3CB7D7FEE2}"/>
              </a:ext>
            </a:extLst>
          </p:cNvPr>
          <p:cNvSpPr/>
          <p:nvPr userDrawn="1"/>
        </p:nvSpPr>
        <p:spPr>
          <a:xfrm>
            <a:off x="0" y="-1"/>
            <a:ext cx="264695" cy="6858001"/>
          </a:xfrm>
          <a:prstGeom prst="rect">
            <a:avLst/>
          </a:prstGeom>
          <a:solidFill>
            <a:srgbClr val="BD27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5442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1D736B-D901-4CCD-A28F-C9A06C4C6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74D8842-A5E7-4EA3-AD67-ADB3415AE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229E03B-4AA8-48C7-8A30-348DF83EFEB4}"/>
              </a:ext>
            </a:extLst>
          </p:cNvPr>
          <p:cNvSpPr/>
          <p:nvPr userDrawn="1"/>
        </p:nvSpPr>
        <p:spPr>
          <a:xfrm>
            <a:off x="0" y="-1"/>
            <a:ext cx="264695" cy="6858001"/>
          </a:xfrm>
          <a:prstGeom prst="rect">
            <a:avLst/>
          </a:prstGeom>
          <a:solidFill>
            <a:srgbClr val="BD27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30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8EBE9F-9046-409A-BE66-C8E048CCD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F851A2-8DE9-4433-AEB8-BC8F51AE9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5AE27E1-4FB2-4092-8B71-019ABB11E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B55D69B2-C548-4E08-821D-1A83E64DE30B}"/>
              </a:ext>
            </a:extLst>
          </p:cNvPr>
          <p:cNvSpPr/>
          <p:nvPr userDrawn="1"/>
        </p:nvSpPr>
        <p:spPr>
          <a:xfrm>
            <a:off x="0" y="-1"/>
            <a:ext cx="264695" cy="6858001"/>
          </a:xfrm>
          <a:prstGeom prst="rect">
            <a:avLst/>
          </a:prstGeom>
          <a:solidFill>
            <a:srgbClr val="BD27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7571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AA89A9-A2EE-4E4D-AA7D-DDB27CFE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ABA516-4C8E-4C42-843B-A32DFEE8C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0113983-C092-418F-9669-2A9A1C8FF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FB1C361-671B-46CA-8458-22CE98073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B3BC65F-16B2-483D-AEBB-5491170C59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9D6D7FD-7606-4005-B2EF-7A40DDA16111}"/>
              </a:ext>
            </a:extLst>
          </p:cNvPr>
          <p:cNvSpPr/>
          <p:nvPr userDrawn="1"/>
        </p:nvSpPr>
        <p:spPr>
          <a:xfrm>
            <a:off x="0" y="-1"/>
            <a:ext cx="264695" cy="6858001"/>
          </a:xfrm>
          <a:prstGeom prst="rect">
            <a:avLst/>
          </a:prstGeom>
          <a:solidFill>
            <a:srgbClr val="BD27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2652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FACA6A-4FC9-4A68-A945-11DCE0A38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2F27DDD-144A-4B3F-A01C-0EFF3B10F505}"/>
              </a:ext>
            </a:extLst>
          </p:cNvPr>
          <p:cNvSpPr/>
          <p:nvPr userDrawn="1"/>
        </p:nvSpPr>
        <p:spPr>
          <a:xfrm>
            <a:off x="0" y="-1"/>
            <a:ext cx="264695" cy="6858001"/>
          </a:xfrm>
          <a:prstGeom prst="rect">
            <a:avLst/>
          </a:prstGeom>
          <a:solidFill>
            <a:srgbClr val="BD27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7793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00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70B759-260C-4427-8EE7-DCC84E8D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62287E-29F8-405C-B24B-BD20BBD66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F000AFB-E8D9-42AB-8F80-5F609EAD3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AFD4A7D-95CC-4017-B92B-DB18D7DBAFDC}"/>
              </a:ext>
            </a:extLst>
          </p:cNvPr>
          <p:cNvSpPr/>
          <p:nvPr userDrawn="1"/>
        </p:nvSpPr>
        <p:spPr>
          <a:xfrm>
            <a:off x="0" y="-1"/>
            <a:ext cx="264695" cy="6858001"/>
          </a:xfrm>
          <a:prstGeom prst="rect">
            <a:avLst/>
          </a:prstGeom>
          <a:solidFill>
            <a:srgbClr val="BD27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0218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D921E6-5E74-422D-9B03-37EF5C21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67E7706-08FA-4484-BBE6-46499F393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11698AE-0D91-4079-B753-CD0C45535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B2D83BBC-435D-4896-BACC-263624071D99}"/>
              </a:ext>
            </a:extLst>
          </p:cNvPr>
          <p:cNvSpPr/>
          <p:nvPr userDrawn="1"/>
        </p:nvSpPr>
        <p:spPr>
          <a:xfrm>
            <a:off x="0" y="-1"/>
            <a:ext cx="264695" cy="6858001"/>
          </a:xfrm>
          <a:prstGeom prst="rect">
            <a:avLst/>
          </a:prstGeom>
          <a:solidFill>
            <a:srgbClr val="BD27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73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FF9B81-17E6-4794-9662-87C02ED3D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44FC529-62D2-422F-8CED-8B2C8D42F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8ED2E26C-3F33-4E90-AF48-EF0562BD7913}"/>
              </a:ext>
            </a:extLst>
          </p:cNvPr>
          <p:cNvSpPr/>
          <p:nvPr userDrawn="1"/>
        </p:nvSpPr>
        <p:spPr>
          <a:xfrm>
            <a:off x="0" y="-1"/>
            <a:ext cx="264695" cy="6858001"/>
          </a:xfrm>
          <a:prstGeom prst="rect">
            <a:avLst/>
          </a:prstGeom>
          <a:solidFill>
            <a:srgbClr val="BD27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056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57775D-E34F-4E64-97F3-A87525A7D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199289A-64BD-4979-A942-E2297EB28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C63ED4D-4F59-4047-8029-B1FF909DAFA1}"/>
              </a:ext>
            </a:extLst>
          </p:cNvPr>
          <p:cNvSpPr/>
          <p:nvPr userDrawn="1"/>
        </p:nvSpPr>
        <p:spPr>
          <a:xfrm>
            <a:off x="0" y="-1"/>
            <a:ext cx="264695" cy="6858001"/>
          </a:xfrm>
          <a:prstGeom prst="rect">
            <a:avLst/>
          </a:prstGeom>
          <a:solidFill>
            <a:srgbClr val="BD27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012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C1930DD6-91B4-40CF-868E-0F5CE0B017C9}"/>
              </a:ext>
            </a:extLst>
          </p:cNvPr>
          <p:cNvSpPr/>
          <p:nvPr userDrawn="1"/>
        </p:nvSpPr>
        <p:spPr>
          <a:xfrm>
            <a:off x="9659112" y="91440"/>
            <a:ext cx="2532888" cy="585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2CE8569-9400-41E6-9884-CA4C64EEAE08}"/>
              </a:ext>
            </a:extLst>
          </p:cNvPr>
          <p:cNvSpPr/>
          <p:nvPr userDrawn="1"/>
        </p:nvSpPr>
        <p:spPr>
          <a:xfrm>
            <a:off x="109728" y="6089904"/>
            <a:ext cx="2532888" cy="585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6829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09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39ECC138-CFF2-48C5-813B-60DF643AAC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959340" y="233363"/>
            <a:ext cx="2040068" cy="293770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8422E39-C875-4CB5-ABFE-877B25F7ED6F}"/>
              </a:ext>
            </a:extLst>
          </p:cNvPr>
          <p:cNvSpPr txBox="1"/>
          <p:nvPr userDrawn="1"/>
        </p:nvSpPr>
        <p:spPr>
          <a:xfrm>
            <a:off x="775335" y="6342842"/>
            <a:ext cx="23545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dirty="0">
                <a:latin typeface="+mj-lt"/>
              </a:rPr>
              <a:t>©2025 OverNet. </a:t>
            </a:r>
            <a:r>
              <a:rPr lang="it-IT" sz="900" dirty="0" err="1">
                <a:latin typeface="+mj-lt"/>
              </a:rPr>
              <a:t>All</a:t>
            </a:r>
            <a:r>
              <a:rPr lang="it-IT" sz="900" dirty="0">
                <a:latin typeface="+mj-lt"/>
              </a:rPr>
              <a:t> </a:t>
            </a:r>
            <a:r>
              <a:rPr lang="it-IT" sz="900" dirty="0" err="1">
                <a:latin typeface="+mj-lt"/>
              </a:rPr>
              <a:t>rights</a:t>
            </a:r>
            <a:r>
              <a:rPr lang="it-IT" sz="900" dirty="0">
                <a:latin typeface="+mj-lt"/>
              </a:rPr>
              <a:t> </a:t>
            </a:r>
            <a:r>
              <a:rPr lang="it-IT" sz="900" dirty="0" err="1">
                <a:latin typeface="+mj-lt"/>
              </a:rPr>
              <a:t>reserved</a:t>
            </a:r>
            <a:r>
              <a:rPr lang="it-IT" sz="900" dirty="0">
                <a:latin typeface="+mj-lt"/>
              </a:rPr>
              <a:t>.</a:t>
            </a:r>
          </a:p>
        </p:txBody>
      </p:sp>
      <p:sp>
        <p:nvSpPr>
          <p:cNvPr id="18" name="Oval 3">
            <a:extLst>
              <a:ext uri="{FF2B5EF4-FFF2-40B4-BE49-F238E27FC236}">
                <a16:creationId xmlns:a16="http://schemas.microsoft.com/office/drawing/2014/main" id="{50CF27A2-C1B8-4790-8CC7-569E08BBA07D}"/>
              </a:ext>
            </a:extLst>
          </p:cNvPr>
          <p:cNvSpPr/>
          <p:nvPr userDrawn="1"/>
        </p:nvSpPr>
        <p:spPr>
          <a:xfrm>
            <a:off x="352682" y="6268737"/>
            <a:ext cx="329513" cy="329513"/>
          </a:xfrm>
          <a:prstGeom prst="ellipse">
            <a:avLst/>
          </a:prstGeom>
          <a:solidFill>
            <a:srgbClr val="BF2E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D9123ADD-6E7F-4B1E-A504-FAA8D8F5F046}"/>
              </a:ext>
            </a:extLst>
          </p:cNvPr>
          <p:cNvSpPr txBox="1"/>
          <p:nvPr userDrawn="1"/>
        </p:nvSpPr>
        <p:spPr>
          <a:xfrm>
            <a:off x="333629" y="6296675"/>
            <a:ext cx="36740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200" b="1" smtClean="0">
                <a:solidFill>
                  <a:schemeClr val="bg1"/>
                </a:solidFill>
              </a:rPr>
              <a:pPr algn="ctr"/>
              <a:t>‹N›</a:t>
            </a:fld>
            <a:endParaRPr lang="id-ID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18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BD271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D271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D2716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D2716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D2716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D2716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497E3EE7-C11A-4919-9F42-AC57E66E1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ANGULAR BASE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DE90790-12D2-4B3F-937E-BB0B4D8B9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it-IT" sz="1800" dirty="0"/>
              <a:t>Pattern S.P.A. e framework</a:t>
            </a:r>
            <a:endParaRPr lang="it-IT" sz="1800" b="1" dirty="0"/>
          </a:p>
        </p:txBody>
      </p:sp>
    </p:spTree>
    <p:extLst>
      <p:ext uri="{BB962C8B-B14F-4D97-AF65-F5344CB8AC3E}">
        <p14:creationId xmlns:p14="http://schemas.microsoft.com/office/powerpoint/2010/main" val="169092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8CE03DBB-FD38-419E-8470-9857047D5F2B}"/>
              </a:ext>
            </a:extLst>
          </p:cNvPr>
          <p:cNvSpPr/>
          <p:nvPr/>
        </p:nvSpPr>
        <p:spPr>
          <a:xfrm>
            <a:off x="0" y="0"/>
            <a:ext cx="21336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666666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CFA245B-6A9F-4021-900A-D63A9D3086F3}"/>
              </a:ext>
            </a:extLst>
          </p:cNvPr>
          <p:cNvSpPr txBox="1"/>
          <p:nvPr/>
        </p:nvSpPr>
        <p:spPr>
          <a:xfrm>
            <a:off x="4601871" y="1859339"/>
            <a:ext cx="65468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BD2716"/>
              </a:buClr>
              <a:buFont typeface="+mj-lt"/>
              <a:buAutoNum type="arabicPeriod"/>
            </a:pPr>
            <a:r>
              <a:rPr lang="it-IT" sz="2000" dirty="0">
                <a:latin typeface="+mj-lt"/>
              </a:rPr>
              <a:t>PATTERN SPA</a:t>
            </a:r>
          </a:p>
          <a:p>
            <a:pPr marL="342900" indent="-342900" algn="just">
              <a:buClr>
                <a:srgbClr val="BD2716"/>
              </a:buClr>
              <a:buFont typeface="+mj-lt"/>
              <a:buAutoNum type="arabicPeriod"/>
            </a:pPr>
            <a:r>
              <a:rPr lang="it-IT" sz="2000" dirty="0">
                <a:latin typeface="+mj-lt"/>
              </a:rPr>
              <a:t>ARCHITETTURA ANGULAR</a:t>
            </a:r>
          </a:p>
          <a:p>
            <a:pPr marL="342900" indent="-342900" algn="just">
              <a:buClr>
                <a:srgbClr val="BD2716"/>
              </a:buClr>
              <a:buFont typeface="+mj-lt"/>
              <a:buAutoNum type="arabicPeriod"/>
            </a:pPr>
            <a:r>
              <a:rPr lang="it-IT" sz="2000" dirty="0">
                <a:latin typeface="+mj-lt"/>
              </a:rPr>
              <a:t>CONCETTO DI COMPONENTE</a:t>
            </a:r>
          </a:p>
          <a:p>
            <a:pPr marL="342900" indent="-342900" algn="just">
              <a:buClr>
                <a:srgbClr val="BD2716"/>
              </a:buClr>
              <a:buFont typeface="+mj-lt"/>
              <a:buAutoNum type="arabicPeriod"/>
            </a:pPr>
            <a:r>
              <a:rPr lang="it-IT" sz="2000" dirty="0">
                <a:latin typeface="+mj-lt"/>
              </a:rPr>
              <a:t>COMUNICAZIONI TRA COMPONENTI</a:t>
            </a:r>
            <a:endParaRPr lang="it-IT" dirty="0">
              <a:latin typeface="+mj-lt"/>
            </a:endParaRPr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1FDB7780-E82A-43E0-9DFC-6F60C054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-103083" y="1923272"/>
            <a:ext cx="4072313" cy="870700"/>
          </a:xfrm>
        </p:spPr>
        <p:txBody>
          <a:bodyPr>
            <a:noAutofit/>
          </a:bodyPr>
          <a:lstStyle/>
          <a:p>
            <a:r>
              <a:rPr lang="it-IT" sz="5400" b="1">
                <a:solidFill>
                  <a:schemeClr val="bg1"/>
                </a:solidFill>
                <a:latin typeface="+mn-lt"/>
              </a:rPr>
              <a:t>CONTENUTO 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59DC071-21A6-4E28-A6EF-DF45C7A3E583}"/>
              </a:ext>
            </a:extLst>
          </p:cNvPr>
          <p:cNvSpPr/>
          <p:nvPr/>
        </p:nvSpPr>
        <p:spPr>
          <a:xfrm>
            <a:off x="292111" y="170064"/>
            <a:ext cx="3104148" cy="6687936"/>
          </a:xfrm>
          <a:prstGeom prst="rect">
            <a:avLst/>
          </a:prstGeom>
          <a:solidFill>
            <a:srgbClr val="BD27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A78B3C63-CF57-41AF-8C68-A8B8545D8757}"/>
              </a:ext>
            </a:extLst>
          </p:cNvPr>
          <p:cNvSpPr txBox="1">
            <a:spLocks/>
          </p:cNvSpPr>
          <p:nvPr/>
        </p:nvSpPr>
        <p:spPr>
          <a:xfrm>
            <a:off x="292111" y="3078682"/>
            <a:ext cx="3104148" cy="870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BD271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4400" b="1" dirty="0">
                <a:solidFill>
                  <a:schemeClr val="bg1"/>
                </a:solidFill>
                <a:latin typeface="+mn-lt"/>
              </a:rPr>
              <a:t>ANGULAR</a:t>
            </a:r>
          </a:p>
          <a:p>
            <a:pPr algn="ctr"/>
            <a:r>
              <a:rPr lang="it-IT" sz="4400" b="1" dirty="0">
                <a:solidFill>
                  <a:schemeClr val="bg1"/>
                </a:solidFill>
                <a:latin typeface="+mn-lt"/>
              </a:rPr>
              <a:t>BASE </a:t>
            </a:r>
          </a:p>
        </p:txBody>
      </p:sp>
    </p:spTree>
    <p:extLst>
      <p:ext uri="{BB962C8B-B14F-4D97-AF65-F5344CB8AC3E}">
        <p14:creationId xmlns:p14="http://schemas.microsoft.com/office/powerpoint/2010/main" val="782405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EC8AD2-D386-AFFD-A15B-13330792D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/>
              <a:t>1. Titolo</a:t>
            </a:r>
            <a:br>
              <a:rPr lang="it-IT" dirty="0"/>
            </a:b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547FC63-F01D-4942-C408-8AF6F7691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7538961" cy="1752600"/>
          </a:xfrm>
        </p:spPr>
        <p:txBody>
          <a:bodyPr/>
          <a:lstStyle/>
          <a:p>
            <a:pPr lvl="0"/>
            <a:r>
              <a:rPr lang="it-IT" i="1" dirty="0"/>
              <a:t>Introduzione ad </a:t>
            </a:r>
            <a:r>
              <a:rPr lang="it-IT" i="1" dirty="0" err="1"/>
              <a:t>Angular</a:t>
            </a:r>
            <a:endParaRPr lang="it-IT" dirty="0"/>
          </a:p>
          <a:p>
            <a:pPr lvl="0"/>
            <a:r>
              <a:rPr lang="it-IT" dirty="0"/>
              <a:t>Corso di Ingegneria del Software – Modulo Front-End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95611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598228-86B5-AFD3-4973-F726D291FD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/>
              <a:t>2. Contesto storico</a:t>
            </a:r>
            <a:br>
              <a:rPr lang="it-IT" dirty="0"/>
            </a:b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E337DA3-C87F-BC70-53F8-4DD1BE877C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it-IT" dirty="0"/>
              <a:t>Evoluzione dei framework JS</a:t>
            </a:r>
          </a:p>
          <a:p>
            <a:pPr lvl="0"/>
            <a:r>
              <a:rPr lang="it-IT" dirty="0" err="1"/>
              <a:t>AngularJS</a:t>
            </a:r>
            <a:r>
              <a:rPr lang="it-IT" dirty="0"/>
              <a:t> → </a:t>
            </a:r>
            <a:r>
              <a:rPr lang="it-IT" dirty="0" err="1"/>
              <a:t>Angular</a:t>
            </a:r>
            <a:r>
              <a:rPr lang="it-IT" dirty="0"/>
              <a:t> moderno</a:t>
            </a:r>
          </a:p>
          <a:p>
            <a:pPr lvl="0"/>
            <a:r>
              <a:rPr lang="it-IT" dirty="0"/>
              <a:t>Motivazioni del redesign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5621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2BD3B1-F665-F1D1-C023-2D52653822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/>
              <a:t>3. Paradigmi architetturali</a:t>
            </a:r>
            <a:br>
              <a:rPr lang="it-IT" dirty="0"/>
            </a:b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8732064-4C27-CD15-DE8E-9787D71D59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it-IT" dirty="0"/>
              <a:t>Component-</a:t>
            </a:r>
            <a:r>
              <a:rPr lang="it-IT" dirty="0" err="1"/>
              <a:t>based</a:t>
            </a:r>
            <a:r>
              <a:rPr lang="it-IT" dirty="0"/>
              <a:t> </a:t>
            </a:r>
            <a:r>
              <a:rPr lang="it-IT" dirty="0" err="1"/>
              <a:t>architecture</a:t>
            </a:r>
            <a:endParaRPr lang="it-IT" dirty="0"/>
          </a:p>
          <a:p>
            <a:pPr lvl="0"/>
            <a:r>
              <a:rPr lang="it-IT" dirty="0"/>
              <a:t>Modularità</a:t>
            </a:r>
          </a:p>
          <a:p>
            <a:pPr lvl="0"/>
            <a:r>
              <a:rPr lang="it-IT" dirty="0" err="1"/>
              <a:t>Separation</a:t>
            </a:r>
            <a:r>
              <a:rPr lang="it-IT" dirty="0"/>
              <a:t> of </a:t>
            </a:r>
            <a:r>
              <a:rPr lang="it-IT" dirty="0" err="1"/>
              <a:t>concerns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23005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8E5F1E-A38E-2131-AC3B-1B0C0FCEC1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/>
              <a:t>4. SPA – Definizione formale</a:t>
            </a:r>
            <a:br>
              <a:rPr lang="it-IT" dirty="0"/>
            </a:b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1D998CD-6E50-130E-5AF7-30B55E702B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it-IT" dirty="0"/>
              <a:t>Modello di interazione</a:t>
            </a:r>
          </a:p>
          <a:p>
            <a:pPr lvl="0"/>
            <a:r>
              <a:rPr lang="it-IT" dirty="0"/>
              <a:t>Vantaggi e limiti</a:t>
            </a:r>
          </a:p>
          <a:p>
            <a:pPr lvl="0"/>
            <a:r>
              <a:rPr lang="it-IT" dirty="0"/>
              <a:t>Implicazioni architetturali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91980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1F446A-FDAB-90CD-8F15-7EDBB3EF9E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/>
              <a:t>5. </a:t>
            </a:r>
            <a:r>
              <a:rPr lang="it-IT" b="1" dirty="0" err="1"/>
              <a:t>TypeScript</a:t>
            </a:r>
            <a:br>
              <a:rPr lang="it-IT" dirty="0"/>
            </a:b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5FA2CC1-6674-8ED6-2A2F-A3813D1A03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it-IT" dirty="0"/>
              <a:t>Tipizzazione statica</a:t>
            </a:r>
          </a:p>
          <a:p>
            <a:pPr lvl="0"/>
            <a:r>
              <a:rPr lang="it-IT" dirty="0"/>
              <a:t>Modello a classi</a:t>
            </a:r>
          </a:p>
          <a:p>
            <a:pPr lvl="0"/>
            <a:r>
              <a:rPr lang="it-IT" dirty="0"/>
              <a:t>Benefici per progetti </a:t>
            </a:r>
            <a:r>
              <a:rPr lang="it-IT" dirty="0" err="1"/>
              <a:t>enterprise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8970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0E6998-888A-892F-DD07-D7EFBF38CE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/>
              <a:t>6. </a:t>
            </a:r>
            <a:r>
              <a:rPr lang="it-IT" b="1" dirty="0" err="1"/>
              <a:t>Angular</a:t>
            </a:r>
            <a:r>
              <a:rPr lang="it-IT" b="1" dirty="0"/>
              <a:t> CLI</a:t>
            </a:r>
            <a:br>
              <a:rPr lang="it-IT" dirty="0"/>
            </a:b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1B3C1D5-8D44-36AA-95FF-FD4B1C6314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it-IT" dirty="0"/>
              <a:t>Ruolo nella </a:t>
            </a:r>
            <a:r>
              <a:rPr lang="it-IT" dirty="0" err="1"/>
              <a:t>toolchain</a:t>
            </a:r>
            <a:endParaRPr lang="it-IT" dirty="0"/>
          </a:p>
          <a:p>
            <a:pPr lvl="0"/>
            <a:r>
              <a:rPr lang="it-IT" dirty="0"/>
              <a:t>Generazione automatica di </a:t>
            </a:r>
            <a:r>
              <a:rPr lang="it-IT" dirty="0" err="1"/>
              <a:t>boilerplate</a:t>
            </a:r>
            <a:endParaRPr lang="it-IT" dirty="0"/>
          </a:p>
          <a:p>
            <a:pPr lvl="0"/>
            <a:r>
              <a:rPr lang="it-IT" dirty="0"/>
              <a:t>Standardizzazione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1219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9E97F4-7F8E-CCF4-A5D9-20D1BD7676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/>
              <a:t>7. Struttura del progetto</a:t>
            </a:r>
            <a:br>
              <a:rPr lang="it-IT" dirty="0"/>
            </a:b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35214F8-87E2-275B-A439-B517B60986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it-IT" dirty="0"/>
              <a:t>Analisi dei file principali</a:t>
            </a:r>
          </a:p>
          <a:p>
            <a:pPr lvl="0"/>
            <a:r>
              <a:rPr lang="it-IT" dirty="0"/>
              <a:t>Entry point</a:t>
            </a:r>
          </a:p>
          <a:p>
            <a:pPr lvl="0"/>
            <a:r>
              <a:rPr lang="it-IT" dirty="0" err="1"/>
              <a:t>Bootstrapping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49532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59820E-A275-06E2-DBBE-02C36AD259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/>
              <a:t>8. Moduli</a:t>
            </a:r>
            <a:br>
              <a:rPr lang="it-IT" dirty="0"/>
            </a:b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A2E62B7-3976-6718-A521-FCE9AD07C9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it-IT" dirty="0"/>
              <a:t>Teoria dei moduli</a:t>
            </a:r>
          </a:p>
          <a:p>
            <a:pPr lvl="0"/>
            <a:r>
              <a:rPr lang="it-IT" dirty="0"/>
              <a:t>Decoratore @NgModule</a:t>
            </a:r>
          </a:p>
          <a:p>
            <a:pPr lvl="0"/>
            <a:r>
              <a:rPr lang="it-IT" dirty="0" err="1"/>
              <a:t>Import/Export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8190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1AD0F1-83A3-FF57-758B-F4B2D17009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/>
              <a:t>9. Componenti</a:t>
            </a:r>
            <a:br>
              <a:rPr lang="it-IT" dirty="0"/>
            </a:b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DFEB71E-7F62-03C6-04B2-95170DB6F0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it-IT" dirty="0"/>
              <a:t>Definizione formale</a:t>
            </a:r>
          </a:p>
          <a:p>
            <a:pPr lvl="0"/>
            <a:r>
              <a:rPr lang="it-IT" dirty="0"/>
              <a:t>Metadati</a:t>
            </a:r>
          </a:p>
          <a:p>
            <a:pPr lvl="0"/>
            <a:r>
              <a:rPr lang="it-IT" dirty="0"/>
              <a:t>Ciclo di vita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2156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E1E5E0-5898-387D-1735-7C0680535B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/>
              <a:t>10. Template</a:t>
            </a:r>
            <a:br>
              <a:rPr lang="it-IT" dirty="0"/>
            </a:b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C7853FE-DCEA-4965-87AE-ECA96CD1FA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it-IT" dirty="0"/>
              <a:t>Linguaggio dichiarativo</a:t>
            </a:r>
          </a:p>
          <a:p>
            <a:pPr lvl="0"/>
            <a:r>
              <a:rPr lang="it-IT" dirty="0"/>
              <a:t>Binding semantico</a:t>
            </a:r>
          </a:p>
          <a:p>
            <a:pPr lvl="0"/>
            <a:r>
              <a:rPr lang="it-IT" dirty="0"/>
              <a:t>Struttura logica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38804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AEA4A7-4981-588B-79D1-5E5CAB1FB8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/>
              <a:t>11. Data Binding</a:t>
            </a:r>
            <a:br>
              <a:rPr lang="it-IT" dirty="0"/>
            </a:b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E992094-72F0-3BBB-FA8C-0231DCBDCF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it-IT" dirty="0"/>
              <a:t>Modello unidirezionale</a:t>
            </a:r>
          </a:p>
          <a:p>
            <a:pPr lvl="0"/>
            <a:r>
              <a:rPr lang="it-IT" dirty="0"/>
              <a:t>Modello bidirezionale</a:t>
            </a:r>
          </a:p>
          <a:p>
            <a:pPr lvl="0"/>
            <a:r>
              <a:rPr lang="it-IT" dirty="0"/>
              <a:t>Implicazioni prestazionali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50941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E62380-8948-DD42-3F84-E97AABBAC3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/>
              <a:t>12. Direttive</a:t>
            </a:r>
            <a:br>
              <a:rPr lang="it-IT" dirty="0"/>
            </a:b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4AFB9CA-EC6A-D3A8-B1A4-D72CBAEF3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it-IT" dirty="0"/>
              <a:t>Strutturali vs attributo</a:t>
            </a:r>
          </a:p>
          <a:p>
            <a:pPr lvl="0"/>
            <a:r>
              <a:rPr lang="it-IT" dirty="0"/>
              <a:t>Analisi semantica</a:t>
            </a:r>
          </a:p>
          <a:p>
            <a:pPr lvl="0"/>
            <a:r>
              <a:rPr lang="it-IT" dirty="0"/>
              <a:t>Esempi formali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50397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68D0CE-9331-B8E9-5570-17AF3752EC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/>
              <a:t>13. Pipes</a:t>
            </a:r>
            <a:br>
              <a:rPr lang="it-IT" dirty="0"/>
            </a:b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A13439E-CA9B-D2C7-6DA6-D9F09DC228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it-IT" dirty="0"/>
              <a:t>Funzioni pure</a:t>
            </a:r>
          </a:p>
          <a:p>
            <a:pPr lvl="0"/>
            <a:r>
              <a:rPr lang="it-IT" dirty="0"/>
              <a:t>Trasformazioni deterministiche</a:t>
            </a:r>
          </a:p>
          <a:p>
            <a:pPr lvl="0"/>
            <a:r>
              <a:rPr lang="it-IT" dirty="0"/>
              <a:t>Estendibilità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09922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EFDF57-42CF-8DBD-82B2-A7CC920C1C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/>
              <a:t>20. Comunicazione tra componenti</a:t>
            </a:r>
            <a:br>
              <a:rPr lang="it-IT" dirty="0"/>
            </a:b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15F8361-9B49-8B4B-782A-A8A5AFC500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it-IT" dirty="0"/>
              <a:t>Input/Output</a:t>
            </a:r>
          </a:p>
          <a:p>
            <a:pPr lvl="0"/>
            <a:r>
              <a:rPr lang="it-IT" dirty="0" err="1"/>
              <a:t>EventEmitter</a:t>
            </a:r>
            <a:endParaRPr lang="it-IT" dirty="0"/>
          </a:p>
          <a:p>
            <a:pPr lvl="0"/>
            <a:r>
              <a:rPr lang="it-IT" dirty="0"/>
              <a:t>Architetture gerarchiche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390939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zione standard" id="{6F95067E-21EF-486C-B4E4-DDD9A28D2598}" vid="{B66A9E92-C7B7-4D1C-BEA4-D29AD0C41D14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595d134-9e1b-4da6-9f6c-68838f924c8d" xsi:nil="true"/>
    <lcf76f155ced4ddcb4097134ff3c332f xmlns="2777486d-4b50-4695-b540-b530ae3287b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4C24EB169252488CEC09BBB10917CB" ma:contentTypeVersion="16" ma:contentTypeDescription="Creare un nuovo documento." ma:contentTypeScope="" ma:versionID="72f1d356f6d698be676e10d60f27816f">
  <xsd:schema xmlns:xsd="http://www.w3.org/2001/XMLSchema" xmlns:xs="http://www.w3.org/2001/XMLSchema" xmlns:p="http://schemas.microsoft.com/office/2006/metadata/properties" xmlns:ns2="2777486d-4b50-4695-b540-b530ae3287b7" xmlns:ns3="1595d134-9e1b-4da6-9f6c-68838f924c8d" targetNamespace="http://schemas.microsoft.com/office/2006/metadata/properties" ma:root="true" ma:fieldsID="6778481e7122156e6c1c1529f2e83bca" ns2:_="" ns3:_="">
    <xsd:import namespace="2777486d-4b50-4695-b540-b530ae3287b7"/>
    <xsd:import namespace="1595d134-9e1b-4da6-9f6c-68838f924c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77486d-4b50-4695-b540-b530ae3287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Tag immagine" ma:readOnly="false" ma:fieldId="{5cf76f15-5ced-4ddc-b409-7134ff3c332f}" ma:taxonomyMulti="true" ma:sspId="c9aca922-bb37-43c1-8e07-ec8a9ae0b9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95d134-9e1b-4da6-9f6c-68838f924c8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3a9e2eb7-d27a-442e-8002-de951961bd65}" ma:internalName="TaxCatchAll" ma:showField="CatchAllData" ma:web="1595d134-9e1b-4da6-9f6c-68838f924c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6CA14A-7566-4C51-B6F3-A0364AA055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F5D22E-A467-4BDA-8994-5D4B51BDC6B4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terms/"/>
    <ds:schemaRef ds:uri="7933a977-450f-4814-84ae-c5f88ea3cdeb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1595d134-9e1b-4da6-9f6c-68838f924c8d"/>
    <ds:schemaRef ds:uri="2777486d-4b50-4695-b540-b530ae3287b7"/>
  </ds:schemaRefs>
</ds:datastoreItem>
</file>

<file path=customXml/itemProps3.xml><?xml version="1.0" encoding="utf-8"?>
<ds:datastoreItem xmlns:ds="http://schemas.openxmlformats.org/officeDocument/2006/customXml" ds:itemID="{C846B986-0337-4ECA-A2F9-3ED525E6C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77486d-4b50-4695-b540-b530ae3287b7"/>
    <ds:schemaRef ds:uri="1595d134-9e1b-4da6-9f6c-68838f924c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OverNet Presentazione standard</Template>
  <TotalTime>60</TotalTime>
  <Words>196</Words>
  <Application>Microsoft Office PowerPoint</Application>
  <PresentationFormat>Widescreen</PresentationFormat>
  <Paragraphs>64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di Office</vt:lpstr>
      <vt:lpstr>ANGULAR BASE</vt:lpstr>
      <vt:lpstr>CONTENUTO </vt:lpstr>
      <vt:lpstr>1. Titolo </vt:lpstr>
      <vt:lpstr>2. Contesto storico </vt:lpstr>
      <vt:lpstr>3. Paradigmi architetturali </vt:lpstr>
      <vt:lpstr>4. SPA – Definizione formale </vt:lpstr>
      <vt:lpstr>5. TypeScript </vt:lpstr>
      <vt:lpstr>6. Angular CLI </vt:lpstr>
      <vt:lpstr>7. Struttura del progetto </vt:lpstr>
      <vt:lpstr>8. Moduli </vt:lpstr>
      <vt:lpstr>9. Componenti </vt:lpstr>
      <vt:lpstr>10. Template </vt:lpstr>
      <vt:lpstr>11. Data Binding </vt:lpstr>
      <vt:lpstr>12. Direttive </vt:lpstr>
      <vt:lpstr>13. Pipes </vt:lpstr>
      <vt:lpstr>20. Comunicazione tra componenti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Monica Mantovani</dc:creator>
  <cp:lastModifiedBy>Marcello Valeri</cp:lastModifiedBy>
  <cp:revision>12</cp:revision>
  <dcterms:created xsi:type="dcterms:W3CDTF">2026-01-14T14:29:44Z</dcterms:created>
  <dcterms:modified xsi:type="dcterms:W3CDTF">2026-04-29T17:08:05Z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0x0101000A4C24EB169252488CEC09BBB10917CB</vt:lpwstr>
  </property>
  <property fmtid="{D5CDD505-2E9C-101B-9397-08002B2CF9AE}" pid="3" name="MediaServiceImageTags">
    <vt:lpwstr/>
  </property>
</Properties>
</file>